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6" r:id="rId5"/>
    <p:sldId id="267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7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2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0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0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07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2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7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1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3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8618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07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8705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49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26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7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154E7-DE47-4CB0-B7FD-9E799431AF1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980E22-9329-4596-992B-C12890E5D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3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4324" y="2464561"/>
            <a:ext cx="8475426" cy="1646302"/>
          </a:xfrm>
        </p:spPr>
        <p:txBody>
          <a:bodyPr/>
          <a:lstStyle/>
          <a:p>
            <a:pPr algn="ctr"/>
            <a:r>
              <a:rPr lang="en-US" sz="4800" b="1" u="sng" dirty="0"/>
              <a:t>Gold Price Prediction using LSTM with Yahoo Finance</a:t>
            </a:r>
            <a:r>
              <a:rPr lang="ar-SA" sz="4800" b="1" u="sng" dirty="0"/>
              <a:t> </a:t>
            </a:r>
            <a:r>
              <a:rPr lang="en-US" sz="4800" b="1" u="sng" dirty="0"/>
              <a:t>up to 2024</a:t>
            </a:r>
            <a:r>
              <a:rPr lang="ar-SA" sz="4800" b="1" u="sng" dirty="0"/>
              <a:t> </a:t>
            </a:r>
            <a:endParaRPr lang="en-US" sz="4800" b="1" u="sng" dirty="0"/>
          </a:p>
        </p:txBody>
      </p:sp>
    </p:spTree>
    <p:extLst>
      <p:ext uri="{BB962C8B-B14F-4D97-AF65-F5344CB8AC3E}">
        <p14:creationId xmlns:p14="http://schemas.microsoft.com/office/powerpoint/2010/main" val="375460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95255" y="-1127"/>
            <a:ext cx="56458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en-US" sz="3600" b="1" dirty="0">
                <a:solidFill>
                  <a:srgbClr val="538135"/>
                </a:solidFill>
                <a:latin typeface="Centaur" panose="02030504050205020304" pitchFamily="18" charset="0"/>
                <a:ea typeface="Calibri" panose="020F0502020204030204" pitchFamily="34" charset="0"/>
                <a:cs typeface="Andalus" panose="02020603050405020304" pitchFamily="18" charset="-78"/>
              </a:rPr>
              <a:t>Model evaluation and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485757" y="981992"/>
            <a:ext cx="610385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sz="2800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Bodoni MT" panose="02070603080606020203" pitchFamily="18" charset="0"/>
                <a:ea typeface="Calibri" panose="020F0502020204030204" pitchFamily="34" charset="0"/>
                <a:cs typeface="DecoType Naskh Swashes" panose="02010400000000000000" pitchFamily="2" charset="-78"/>
              </a:rPr>
              <a:t>The values were relatively high because</a:t>
            </a:r>
          </a:p>
          <a:p>
            <a:pPr algn="r" rtl="1"/>
            <a:r>
              <a:rPr lang="en-US" sz="2800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Bodoni MT" panose="02070603080606020203" pitchFamily="18" charset="0"/>
                <a:ea typeface="Calibri" panose="020F0502020204030204" pitchFamily="34" charset="0"/>
                <a:cs typeface="DecoType Naskh Swashes" panose="02010400000000000000" pitchFamily="2" charset="-78"/>
              </a:rPr>
              <a:t> the dataset spanned a two-year period</a:t>
            </a:r>
            <a:r>
              <a:rPr lang="en-US" sz="2400" dirty="0"/>
              <a:t>.</a:t>
            </a:r>
            <a:endParaRPr lang="en-US" sz="24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5570" y="4962118"/>
            <a:ext cx="900670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Bodoni MT" panose="02070603080606020203" pitchFamily="18" charset="0"/>
                <a:ea typeface="Calibri" panose="020F0502020204030204" pitchFamily="34" charset="0"/>
                <a:cs typeface="DecoType Naskh Swashes" panose="02010400000000000000" pitchFamily="2" charset="-78"/>
              </a:rPr>
              <a:t>The visual results indicate a sharp decline in the coming months, followed by a significant rise.</a:t>
            </a:r>
            <a:r>
              <a:rPr lang="ar-SA" sz="2800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Bodoni MT" panose="02070603080606020203" pitchFamily="18" charset="0"/>
                <a:ea typeface="Calibri" panose="020F0502020204030204" pitchFamily="34" charset="0"/>
                <a:cs typeface="DecoType Naskh Swashes" panose="02010400000000000000" pitchFamily="2" charset="-78"/>
              </a:rPr>
              <a:t> </a:t>
            </a:r>
            <a:r>
              <a:rPr lang="en-US" sz="2800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Bodoni MT" panose="02070603080606020203" pitchFamily="18" charset="0"/>
                <a:ea typeface="Calibri" panose="020F0502020204030204" pitchFamily="34" charset="0"/>
                <a:cs typeface="DecoType Naskh Swashes" panose="02010400000000000000" pitchFamily="2" charset="-78"/>
              </a:rPr>
              <a:t>Such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Bodoni MT" panose="02070603080606020203" pitchFamily="18" charset="0"/>
                <a:ea typeface="Calibri" panose="020F0502020204030204" pitchFamily="34" charset="0"/>
                <a:cs typeface="DecoType Naskh Swashes" panose="02010400000000000000" pitchFamily="2" charset="-78"/>
              </a:rPr>
              <a:t>fluctuations</a:t>
            </a:r>
            <a:r>
              <a:rPr lang="en-US" sz="2800" dirty="0">
                <a:solidFill>
                  <a:srgbClr val="538135"/>
                </a:solidFill>
                <a:effectLst>
                  <a:outerShdw blurRad="63500" dist="50800" dir="13500000" sx="0" sy="0">
                    <a:srgbClr val="000000"/>
                  </a:outerShdw>
                </a:effectLst>
                <a:latin typeface="Bodoni MT" panose="02070603080606020203" pitchFamily="18" charset="0"/>
                <a:ea typeface="Calibri" panose="020F0502020204030204" pitchFamily="34" charset="0"/>
                <a:cs typeface="DecoType Naskh Swashes" panose="02010400000000000000" pitchFamily="2" charset="-78"/>
              </a:rPr>
              <a:t> could have a notable impact on the economies of gold-dependent countries.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21" y="865770"/>
            <a:ext cx="3076463" cy="9551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26" y="1999193"/>
            <a:ext cx="5580966" cy="29354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701" y="1999193"/>
            <a:ext cx="5683348" cy="295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50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29509" y="134168"/>
            <a:ext cx="70459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entaur" panose="02030504050205020304" pitchFamily="18" charset="0"/>
              </a:rPr>
              <a:t>Enhancing visualization and analysis: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Centaur" panose="02030504050205020304" pitchFamily="18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34" y="1935475"/>
            <a:ext cx="5822177" cy="30168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16709" y="5161200"/>
            <a:ext cx="48411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Error ratios have</a:t>
            </a:r>
          </a:p>
          <a:p>
            <a:pPr rtl="1"/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 decreased noticeably.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4613" y="772206"/>
            <a:ext cx="548259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Plot actual versus predicted </a:t>
            </a:r>
          </a:p>
          <a:p>
            <a:pPr rtl="1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prices over time.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492" y="1916815"/>
            <a:ext cx="5686286" cy="30168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77288" y="741849"/>
            <a:ext cx="574227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en-US" sz="3200" dirty="0">
                <a:solidFill>
                  <a:srgbClr val="FFC000"/>
                </a:solidFill>
              </a:rPr>
              <a:t>Plot loss ratios for both</a:t>
            </a:r>
          </a:p>
          <a:p>
            <a:pPr rtl="1"/>
            <a:r>
              <a:rPr lang="en-US" sz="3200" dirty="0">
                <a:solidFill>
                  <a:srgbClr val="FFC000"/>
                </a:solidFill>
              </a:rPr>
              <a:t> training and testing datasets.</a:t>
            </a:r>
            <a:endParaRPr lang="en-US" sz="3200" b="1" dirty="0">
              <a:solidFill>
                <a:srgbClr val="FFC000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1" y="5315136"/>
            <a:ext cx="4420217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7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6938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en-US" sz="4000" b="1" dirty="0">
                <a:solidFill>
                  <a:schemeClr val="accent2"/>
                </a:solidFill>
                <a:latin typeface="Centaur" panose="02030504050205020304" pitchFamily="18" charset="0"/>
              </a:rPr>
              <a:t>Future Price Predictions</a:t>
            </a:r>
            <a:endParaRPr lang="en-US" sz="4000" b="1" dirty="0">
              <a:solidFill>
                <a:schemeClr val="accent2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Centaur" panose="02030504050205020304" pitchFamily="18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7241" y="4786257"/>
            <a:ext cx="866522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2"/>
                </a:solidFill>
              </a:rPr>
              <a:t>We generated predictions starting from June 10. An additional 30 days were projected into the future. As shown in the graph, the price is expected to decline during this period.</a:t>
            </a:r>
            <a:br>
              <a:rPr lang="en-US" sz="4000" dirty="0"/>
            </a:br>
            <a:endParaRPr lang="en-US" sz="4000" b="1" dirty="0">
              <a:solidFill>
                <a:srgbClr val="538135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Algerian" panose="04020705040A02060702" pitchFamily="82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57" y="858643"/>
            <a:ext cx="7301905" cy="363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4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2133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en-US" sz="4000" b="1" dirty="0">
                <a:solidFill>
                  <a:schemeClr val="accent2"/>
                </a:solidFill>
                <a:latin typeface="Centaur" panose="02030504050205020304" pitchFamily="18" charset="0"/>
              </a:rPr>
              <a:t>Creative Visualization</a:t>
            </a:r>
            <a:endParaRPr lang="en-US" sz="4000" b="1" dirty="0">
              <a:solidFill>
                <a:schemeClr val="accent2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Centaur" panose="02030504050205020304" pitchFamily="18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" t="5416" r="1102"/>
          <a:stretch/>
        </p:blipFill>
        <p:spPr>
          <a:xfrm>
            <a:off x="0" y="1370073"/>
            <a:ext cx="9445798" cy="32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34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2069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en-US" sz="4000" b="1" dirty="0">
                <a:solidFill>
                  <a:schemeClr val="accent2"/>
                </a:solidFill>
                <a:latin typeface="Centaur" panose="02030504050205020304" pitchFamily="18" charset="0"/>
              </a:rPr>
              <a:t>Creative Visualization</a:t>
            </a:r>
            <a:endParaRPr lang="en-US" sz="4000" b="1" dirty="0">
              <a:solidFill>
                <a:schemeClr val="accent2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Centaur" panose="02030504050205020304" pitchFamily="18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941" t="7031" r="1016" b="3999"/>
          <a:stretch/>
        </p:blipFill>
        <p:spPr>
          <a:xfrm>
            <a:off x="0" y="1457886"/>
            <a:ext cx="9543052" cy="288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58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909" y="150757"/>
            <a:ext cx="42069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1"/>
            <a:r>
              <a:rPr lang="en-US" sz="4000" dirty="0">
                <a:solidFill>
                  <a:schemeClr val="accent2"/>
                </a:solidFill>
                <a:latin typeface="Centaur" panose="02030504050205020304" pitchFamily="18" charset="0"/>
              </a:rPr>
              <a:t>Creative Visualization</a:t>
            </a:r>
            <a:endParaRPr lang="en-US" sz="4000" b="1" dirty="0">
              <a:solidFill>
                <a:schemeClr val="accent2"/>
              </a:solidFill>
              <a:effectLst>
                <a:outerShdw blurRad="63500" dist="50800" dir="13500000" sx="0" sy="0">
                  <a:srgbClr val="000000"/>
                </a:outerShdw>
              </a:effectLst>
              <a:latin typeface="Centaur" panose="02030504050205020304" pitchFamily="18" charset="0"/>
              <a:ea typeface="Calibri" panose="020F0502020204030204" pitchFamily="34" charset="0"/>
              <a:cs typeface="DecoType Naskh Swashes" panose="0201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081" t="6192" r="825" b="15632"/>
          <a:stretch/>
        </p:blipFill>
        <p:spPr>
          <a:xfrm>
            <a:off x="0" y="1051487"/>
            <a:ext cx="9719410" cy="319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60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2441" y="133956"/>
            <a:ext cx="68851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>
                <a:solidFill>
                  <a:schemeClr val="accent2"/>
                </a:solidFill>
                <a:latin typeface="Centaur" panose="02030504050205020304" pitchFamily="18" charset="0"/>
              </a:rPr>
              <a:t>Analysis and Future Recommendations</a:t>
            </a:r>
            <a:r>
              <a:rPr lang="ar-SA" sz="3600" b="1" u="sng" dirty="0">
                <a:solidFill>
                  <a:schemeClr val="accent2"/>
                </a:solidFill>
                <a:latin typeface="Centaur" panose="02030504050205020304" pitchFamily="18" charset="0"/>
              </a:rPr>
              <a:t>:</a:t>
            </a:r>
            <a:endParaRPr lang="en-US" sz="3600" b="1" u="sng" dirty="0">
              <a:solidFill>
                <a:schemeClr val="accent2"/>
              </a:solidFill>
              <a:latin typeface="Centaur" panose="020305040502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0350" y="884277"/>
            <a:ext cx="98171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The model forecasts indicate that gold prices have reached a short-term peak. </a:t>
            </a:r>
            <a:endParaRPr lang="ar-SA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Over the next 30 days, the price is expected to decline. This suggests that the market is likely entering a short-term correction phase.</a:t>
            </a:r>
          </a:p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Recommended Future Actions</a:t>
            </a:r>
          </a:p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Short-Term Strategy: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Avoid purchasing at the current peak price level due to increased risk of short-term loss.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Monitor the market closely and wait for lower price levels to re-enter.</a:t>
            </a:r>
          </a:p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Mid-Term Strategy: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Track the market during the projected decline to identify more favorable entry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Re-train or update the predictive model on a weekly basis to maintain accurate forecasting as new data becomes available.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Note: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The SMA(20) indicator shown in the second chart confirms the same downside signal, indicating an early trend reversal. This acts as an additional confirmation of the anticipated short-term decline.</a:t>
            </a:r>
          </a:p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7440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552</TotalTime>
  <Words>290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Arial</vt:lpstr>
      <vt:lpstr>Bodoni MT</vt:lpstr>
      <vt:lpstr>Centaur</vt:lpstr>
      <vt:lpstr>Trebuchet MS</vt:lpstr>
      <vt:lpstr>Wingdings 3</vt:lpstr>
      <vt:lpstr>Facet</vt:lpstr>
      <vt:lpstr>Gold Price Prediction using LSTM with Yahoo Finance up to 2024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Maher</dc:creator>
  <cp:lastModifiedBy>LENOVO</cp:lastModifiedBy>
  <cp:revision>32</cp:revision>
  <dcterms:created xsi:type="dcterms:W3CDTF">2024-06-20T22:15:58Z</dcterms:created>
  <dcterms:modified xsi:type="dcterms:W3CDTF">2025-11-09T22:45:57Z</dcterms:modified>
</cp:coreProperties>
</file>