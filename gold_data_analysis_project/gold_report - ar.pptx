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66" r:id="rId5"/>
    <p:sldId id="267" r:id="rId6"/>
    <p:sldId id="268" r:id="rId7"/>
    <p:sldId id="269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7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2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0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07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07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22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74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16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35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2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8618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07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8705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49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26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70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3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4324" y="2464561"/>
            <a:ext cx="7766936" cy="1646302"/>
          </a:xfrm>
        </p:spPr>
        <p:txBody>
          <a:bodyPr/>
          <a:lstStyle/>
          <a:p>
            <a:pPr algn="ctr" rtl="1"/>
            <a:r>
              <a:rPr lang="ar-SA" sz="3600" dirty="0"/>
              <a:t>توقع سعر الذهب باستخدام </a:t>
            </a:r>
            <a:r>
              <a:rPr lang="en-US" sz="3600" dirty="0"/>
              <a:t>LSTM </a:t>
            </a:r>
            <a:r>
              <a:rPr lang="ar-SA" sz="3600" dirty="0"/>
              <a:t>مع </a:t>
            </a:r>
            <a:r>
              <a:rPr lang="en-US" sz="3600" dirty="0"/>
              <a:t>Yahoo Finance</a:t>
            </a:r>
            <a:br>
              <a:rPr lang="en-US" sz="3600" dirty="0"/>
            </a:br>
            <a:r>
              <a:rPr lang="ar-SA" sz="3600" dirty="0"/>
              <a:t>الى عام 2024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54605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7909" y="150757"/>
            <a:ext cx="41969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ar-AE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المهمة  3: تقييم النموذج والتنبؤ به</a:t>
            </a:r>
            <a:endParaRPr lang="en-US" sz="4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31766" y="1036919"/>
            <a:ext cx="5766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SA" sz="24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كانت القيم كبيره نسبيا وذلك بسبب ان            المعلومات كانت لمده سنتين</a:t>
            </a:r>
            <a:endParaRPr lang="en-US" sz="24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25422" y="5112912"/>
            <a:ext cx="900670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1"/>
            <a:r>
              <a:rPr lang="ar-SA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من              خلال الصور يوضح خلال الشهور القادمة هناك نزول قوي           </a:t>
            </a:r>
          </a:p>
          <a:p>
            <a:pPr rtl="1"/>
            <a:r>
              <a:rPr lang="ar-SA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 ومن بعدها ارتفاع  عالي            يمكن           ان             يؤثر على اقتصاد البلدان</a:t>
            </a:r>
            <a:endParaRPr lang="en-US" sz="4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21" y="865770"/>
            <a:ext cx="3076463" cy="9551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26" y="1999193"/>
            <a:ext cx="5580966" cy="29354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701" y="1999193"/>
            <a:ext cx="5683348" cy="295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750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7909" y="150757"/>
            <a:ext cx="41937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ar-AE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المهمة 4: تعزيز التصور والتحليل</a:t>
            </a:r>
            <a:r>
              <a:rPr lang="ar-SA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 :</a:t>
            </a:r>
            <a:endParaRPr lang="en-US" sz="4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34" y="1356981"/>
            <a:ext cx="5822177" cy="30168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816709" y="5011910"/>
            <a:ext cx="44438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ar-SA" sz="3600" b="1" dirty="0"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نسب الأخطاء قد قلت بشكل ملحوظ</a:t>
            </a:r>
            <a:endParaRPr lang="en-US" sz="3600" b="1" dirty="0"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4613" y="772206"/>
            <a:ext cx="49584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ar-SA" sz="3200" b="1" dirty="0">
                <a:solidFill>
                  <a:srgbClr val="0070C0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رسم الأسعار الفعلية والمتوقعة على محور الزمن        </a:t>
            </a:r>
            <a:endParaRPr lang="en-US" sz="3200" b="1" dirty="0">
              <a:solidFill>
                <a:srgbClr val="0070C0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492" y="1356981"/>
            <a:ext cx="5686286" cy="30168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30430" y="741849"/>
            <a:ext cx="54216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ar-SA" sz="3200" b="1" dirty="0">
                <a:solidFill>
                  <a:schemeClr val="accent3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رسم نسب الخسارة لكل من البيانات المدربة والاختبار  </a:t>
            </a:r>
            <a:endParaRPr lang="en-US" sz="3200" b="1" dirty="0">
              <a:solidFill>
                <a:schemeClr val="accent3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1" y="4755299"/>
            <a:ext cx="4420217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75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7909" y="150757"/>
            <a:ext cx="47147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ar-AE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المهمة 6: توقعات الأسعار المستقبلية</a:t>
            </a:r>
            <a:r>
              <a:rPr lang="ar-SA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:</a:t>
            </a:r>
            <a:endParaRPr lang="en-US" sz="4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46049" y="4786257"/>
            <a:ext cx="7736413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ar-SA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قمنا بتوقع من بعد تاريخ يوم 10 شهر 6 </a:t>
            </a:r>
          </a:p>
          <a:p>
            <a:pPr algn="ctr" rtl="1"/>
            <a:r>
              <a:rPr lang="ar-SA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اضفنا 30 يوم زيادة كما توضح في الرسم ان سوف ينخفض السعر</a:t>
            </a:r>
            <a:endParaRPr lang="en-US" sz="4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57" y="858643"/>
            <a:ext cx="7301905" cy="363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4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7909" y="150757"/>
            <a:ext cx="415530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ar-AE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المهمة 8: التصور الإبداعي</a:t>
            </a:r>
            <a:r>
              <a:rPr lang="ar-SA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            :</a:t>
            </a:r>
            <a:endParaRPr lang="en-US" sz="4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" t="5416" r="1102"/>
          <a:stretch/>
        </p:blipFill>
        <p:spPr>
          <a:xfrm>
            <a:off x="0" y="1370073"/>
            <a:ext cx="9445798" cy="322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34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7909" y="150757"/>
            <a:ext cx="415530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ar-AE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المهمة 8: التصور الإبداعي</a:t>
            </a:r>
            <a:r>
              <a:rPr lang="ar-SA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            :</a:t>
            </a:r>
            <a:endParaRPr lang="en-US" sz="4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941" t="7031" r="1016" b="3999"/>
          <a:stretch/>
        </p:blipFill>
        <p:spPr>
          <a:xfrm>
            <a:off x="0" y="1457886"/>
            <a:ext cx="9543052" cy="288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58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7909" y="150757"/>
            <a:ext cx="415530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ar-AE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المهمة 8: التصور الإبداعي</a:t>
            </a:r>
            <a:r>
              <a:rPr lang="ar-SA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            :</a:t>
            </a:r>
            <a:endParaRPr lang="en-US" sz="4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081" t="6192" r="825" b="15632"/>
          <a:stretch/>
        </p:blipFill>
        <p:spPr>
          <a:xfrm>
            <a:off x="0" y="1051487"/>
            <a:ext cx="9719410" cy="319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60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16241" y="200705"/>
            <a:ext cx="523560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ar-SA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تحليل النتائج وما يجب فعله مستقبلاً</a:t>
            </a:r>
            <a:r>
              <a:rPr lang="en-US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 </a:t>
            </a:r>
            <a:r>
              <a:rPr lang="ar-SA" sz="4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:</a:t>
            </a:r>
            <a:endParaRPr lang="en-US" sz="4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739779" y="876714"/>
            <a:ext cx="981710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sz="2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توضّح التنبؤات أن أسعار الذهب وصلت لمستوى مرتفع خلال الفترة الحالية، </a:t>
            </a:r>
            <a:endParaRPr lang="en-US" sz="2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  <a:p>
            <a:pPr algn="r" rtl="1"/>
            <a:r>
              <a:rPr lang="ar-SA" sz="2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وبعد ذلك من المتوقع أن تشهد الأسعار هبوطاً خلال الثلاثين يوماً القادمة. هذا يعني أن السوق قد يدخل في مرحلة تصحيح سعري على المدى القصير.</a:t>
            </a:r>
            <a:endParaRPr lang="en-US" sz="2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  <a:p>
            <a:pPr algn="r" rtl="1"/>
            <a:endParaRPr lang="ar-SA" sz="2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  <a:p>
            <a:pPr algn="r" rtl="1"/>
            <a:r>
              <a:rPr lang="ar-SA" sz="2400" b="1" u="sng" dirty="0">
                <a:solidFill>
                  <a:schemeClr val="accent2">
                    <a:lumMod val="50000"/>
                  </a:schemeClr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ماذا يجب القيام به مستقبلاً؟</a:t>
            </a:r>
            <a:endParaRPr lang="en-US" sz="2400" b="1" u="sng" dirty="0">
              <a:solidFill>
                <a:schemeClr val="accent2">
                  <a:lumMod val="50000"/>
                </a:schemeClr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  <a:p>
            <a:pPr algn="r" rtl="1"/>
            <a:endParaRPr lang="ar-SA" sz="2400" b="1" u="sng" dirty="0">
              <a:solidFill>
                <a:schemeClr val="accent2">
                  <a:lumMod val="50000"/>
                </a:schemeClr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  <a:p>
            <a:pPr algn="r" rtl="1"/>
            <a:r>
              <a:rPr lang="ar-SA" sz="28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الإستراتيجية قصيرة المدى: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تجنّب الشراء عند هذا المستوى المرتفع لأنه يعتبر غير مستقر.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الأفضل الانتظار حتى تظهر قيعان سعرية جديدة والدخول من سعر أقل.</a:t>
            </a:r>
            <a:endParaRPr lang="en-US" sz="2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endParaRPr lang="ar-SA" sz="2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  <a:p>
            <a:pPr algn="r" rtl="1"/>
            <a:r>
              <a:rPr lang="ar-SA" sz="3200" b="1" u="sng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الإستراتيجية متوسطة المدى: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متابعة حركة السوق خلال فترة الهبوط المتوقعة.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الاستفادة من نقطة الانعكاس القادمة لإعادة الدخول في السوق من سعر منخفض.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تحديث نموذج التنبؤ بشكل أسبوعي لإضافة أحدث الأسعار والمحافظة على دقّة النتائج.</a:t>
            </a:r>
            <a:endParaRPr lang="en-US" sz="2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endParaRPr lang="ar-SA" sz="2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  <a:p>
            <a:pPr algn="r" rtl="1"/>
            <a:r>
              <a:rPr lang="ar-SA" sz="2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highlight>
                  <a:srgbClr val="FFFF00"/>
                </a:highligh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ملاحظة:</a:t>
            </a:r>
            <a:br>
              <a:rPr lang="ar-SA" sz="2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</a:br>
            <a:r>
              <a:rPr lang="ar-SA" sz="2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مؤشر المتوسط المتحرك البسيط (</a:t>
            </a:r>
            <a:r>
              <a:rPr lang="en-US" sz="2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 (SMA 20) </a:t>
            </a:r>
            <a:r>
              <a:rPr lang="ar-SA" sz="2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في الرسم الثاني يدعم نفس الصورة ويُظهر بداية حركة </a:t>
            </a:r>
            <a:r>
              <a:rPr lang="ar-SA" sz="2000" b="1" dirty="0" err="1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هبوطية</a:t>
            </a:r>
            <a:r>
              <a:rPr lang="ar-SA" sz="2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، </a:t>
            </a:r>
            <a:endParaRPr lang="en-US" sz="2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  <a:p>
            <a:pPr algn="r" rtl="1"/>
            <a:r>
              <a:rPr lang="ar-SA" sz="2000" b="1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DecoType Naskh Swashes" panose="02010400000000000000" pitchFamily="2" charset="-78"/>
              </a:rPr>
              <a:t>وهذا يُعد إشارة تأكيد إضافية للتراجع المحتمل.</a:t>
            </a:r>
          </a:p>
        </p:txBody>
      </p:sp>
    </p:spTree>
    <p:extLst>
      <p:ext uri="{BB962C8B-B14F-4D97-AF65-F5344CB8AC3E}">
        <p14:creationId xmlns:p14="http://schemas.microsoft.com/office/powerpoint/2010/main" val="34847440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523</TotalTime>
  <Words>273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Arial</vt:lpstr>
      <vt:lpstr>Trebuchet MS</vt:lpstr>
      <vt:lpstr>Wingdings 3</vt:lpstr>
      <vt:lpstr>Facet</vt:lpstr>
      <vt:lpstr>توقع سعر الذهب باستخدام LSTM مع Yahoo Finance الى عام 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Maher</dc:creator>
  <cp:lastModifiedBy>LENOVO</cp:lastModifiedBy>
  <cp:revision>27</cp:revision>
  <dcterms:created xsi:type="dcterms:W3CDTF">2024-06-20T22:15:58Z</dcterms:created>
  <dcterms:modified xsi:type="dcterms:W3CDTF">2025-11-09T22:46:10Z</dcterms:modified>
</cp:coreProperties>
</file>